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1463040"/>
            <a:ext cx="3931920" cy="411480"/>
          </a:xfrm>
          <a:prstGeom prst="rect">
            <a:avLst/>
          </a:prstGeom>
          <a:solidFill>
            <a:srgbClr val="00337A"/>
          </a:solidFill>
          <a:ln w="19050">
            <a:solidFill>
              <a:srgbClr val="7DB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15087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DB2FF"/>
                </a:solidFill>
                <a:latin typeface="Calibri"/>
              </a:rPr>
              <a:t>FASE 4 — PRESENTACIÓN INDIVIDUAL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FFFFFF"/>
                </a:solidFill>
                <a:latin typeface="Calibri Light"/>
              </a:rPr>
              <a:t>Mejoras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0">
                <a:solidFill>
                  <a:srgbClr val="7DB2FF"/>
                </a:solidFill>
                <a:latin typeface="Calibri Light"/>
              </a:rPr>
              <a:t>&amp; Calidad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Sistema SIGEST — Órdenes de Servicio para Taller Mecánico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43484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Estudiante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Francisco R. Díaz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443484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Matrícula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2023-3300016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43484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Materia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Ingeniería de Software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41080" y="4434840"/>
            <a:ext cx="21945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19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Universidad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4709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8C00"/>
                </a:solidFill>
                <a:latin typeface="Calibri"/>
              </a:rPr>
              <a:t>UNEV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Calibri"/>
              </a:rPr>
              <a:t>← → para navegar entre diapositivas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1. El Diagnóstico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¿Cómo estaba el sistema antes de las mejoras?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2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115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56"/>
                </a:solidFill>
                <a:latin typeface="Calibri"/>
              </a:rPr>
              <a:t>❌  Lógica de Negocio Acoplada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Los controladores HTTP realizaban validaciones complejas y transformaciones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de datos que pertenecen al Dominio, como parseInt, verificación de placa/marca.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1155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56"/>
                </a:solidFill>
                <a:latin typeface="Calibri"/>
              </a:rPr>
              <a:t>❌  Bloqueos de Interfaz (UX)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3898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Uso de window.alert() y window.confirm() en el frontend,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bloqueando el hilo principal e interrumpiendo al usuario.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0604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157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56"/>
                </a:solidFill>
                <a:latin typeface="Calibri"/>
              </a:rPr>
              <a:t>❌  Duplicación de Lógica Financiera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9900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La función para formatear moneda (RD$) se repetía manualmente en cada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componente (Ordenes, Facturación, Dashboard) sin centralizar.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606040"/>
            <a:ext cx="5394960" cy="13716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71576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F56"/>
                </a:solidFill>
                <a:latin typeface="Calibri"/>
              </a:rPr>
              <a:t>❌  Inconsistencias Visuales (Frontend)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990088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Encabezados &lt;h1&gt; duplicados en vistas secundarias y lógica de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navegación de roles codificada directamente en el Layout.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160520"/>
            <a:ext cx="11064240" cy="640080"/>
          </a:xfrm>
          <a:prstGeom prst="rect">
            <a:avLst/>
          </a:prstGeom>
          <a:solidFill>
            <a:srgbClr val="1A0A0A"/>
          </a:solidFill>
          <a:ln w="1270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5196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5F56"/>
                </a:solidFill>
                <a:latin typeface="Calibri"/>
              </a:rPr>
              <a:t>📋  Resultado: Sistema frágil, difícil de testear y con acoplamiento alto entre capas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2. Decisiones de Arquitectura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¿Por qué tomamos estas decisiones de diseño?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3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115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B2FF"/>
                </a:solidFill>
                <a:latin typeface="Calibri"/>
              </a:rPr>
              <a:t>🏛️  Arquitectura Hexagonal (DDD)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4173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Separar el Dominio (reglas de negocio) de la Infraestructura (BD, HTTP) permite un sistema agnóstico, testeable e independiente del framework.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005840"/>
            <a:ext cx="55778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115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D2E"/>
                </a:solidFill>
                <a:latin typeface="Calibri"/>
              </a:rPr>
              <a:t>🔀  Casos de Uso (CrearVehiculoUseCase)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4173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Centralizar validaciones en clases de aplicación deja a los controladores delgados: solo reciben la petición y delegan al facade.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55778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00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44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C93F"/>
                </a:solidFill>
                <a:latin typeface="Calibri"/>
              </a:rPr>
              <a:t>🎭  Patrón Facade (TallerFacade)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246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Un único punto de entrada al sistema oculta la complejidad del dominio para las interfaces HTTP y facilita el mantenimiento.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834640"/>
            <a:ext cx="5577840" cy="1645920"/>
          </a:xfrm>
          <a:prstGeom prst="rect">
            <a:avLst/>
          </a:prstGeom>
          <a:solidFill>
            <a:srgbClr val="1E293B"/>
          </a:solidFill>
          <a:ln w="19050">
            <a:solidFill>
              <a:srgbClr val="60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9443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⚙️  Patrones State &amp;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461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State controla el ciclo de vida de las Órdenes. Strategy aísla los cálculos de ITBIS (18%) y descuentos sin modificar la entidad central.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92040"/>
            <a:ext cx="11064240" cy="548640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560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🎯  Principio guía: El dominio no depende de ningún detalle técnico externo (SRP, DIP — SOLID)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El Antes y el Después —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De controladores monolíticos a Casos de Uso aislados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4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486400" cy="347472"/>
          </a:xfrm>
          <a:prstGeom prst="rect">
            <a:avLst/>
          </a:prstGeom>
          <a:solidFill>
            <a:srgbClr val="3A0A0A"/>
          </a:solidFill>
          <a:ln w="1905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F56"/>
                </a:solidFill>
                <a:latin typeface="Calibri"/>
              </a:rPr>
              <a:t>❌  ANTES — vehiculo.routes.js (Controlador Sobrecargado)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07592"/>
            <a:ext cx="5486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1417319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" y="1417319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1417319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380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vehiculo.routes.js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55064"/>
            <a:ext cx="5486400" cy="3310128"/>
          </a:xfrm>
          <a:prstGeom prst="rect">
            <a:avLst/>
          </a:prstGeom>
          <a:solidFill>
            <a:srgbClr val="030712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1764792"/>
            <a:ext cx="5212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// Validación en el controlador HTTP (MAL)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router.post('/', async (req, res) =&gt;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const { placa, marca, modelo, anio } = req.body;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if (!placa || !marca || !modelo)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return res.status(400).json({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  error: 'Placa, marca y modelo son obligatorios'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});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}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const anioInt = parseInt(anio);  // transformación aquí ❌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const vehiculo = await prisma.vehiculo.create({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data: { placa, marca, modelo, anio: anioInt }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});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res.json(vehiculo);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});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960120"/>
            <a:ext cx="5486400" cy="347472"/>
          </a:xfrm>
          <a:prstGeom prst="rect">
            <a:avLst/>
          </a:prstGeom>
          <a:solidFill>
            <a:srgbClr val="032A0F"/>
          </a:solidFill>
          <a:ln w="19050"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C93F"/>
                </a:solidFill>
                <a:latin typeface="Calibri"/>
              </a:rPr>
              <a:t>✅  DESPUÉS — CrearVehiculoUseCase.js (Dominio Protegido)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307592"/>
            <a:ext cx="5486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1" y="1417319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56831" y="1417319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85431" y="1417319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380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CrearVehiculoUseCase.js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655064"/>
            <a:ext cx="5486400" cy="3310128"/>
          </a:xfrm>
          <a:prstGeom prst="rect">
            <a:avLst/>
          </a:prstGeom>
          <a:solidFill>
            <a:srgbClr val="030712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1764792"/>
            <a:ext cx="52120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// Caso de Uso — capa Aplicación (BIEN) ✅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class CrearVehiculoUseCase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constructor(vehiculoRepo)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this.vehiculoRepo = vehiculoRepo;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async ejecutar(datos)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const { placa, marca, modelo, anio } = datos;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if (!placa || !marca || !modelo)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throw new Error('Campos obligatorios faltantes');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// Regla de negocio centralizada aquí ✅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const anioValido = parseInt(anio);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return this.vehiculoRepo.crear(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{ placa, marca, modelo, anio: anioValido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C0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110642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303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DB2FF"/>
                </a:solidFill>
                <a:latin typeface="Courier New"/>
              </a:rPr>
              <a:t>El controlador HTTP ahora solo llama: const veh = await facade.crearVehiculo(req.body);  — delgado y sin reglas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3. El Antes y el Después —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De alertas nativas a UX asíncrona con Toast y ConfirmModal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5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960120"/>
            <a:ext cx="5486400" cy="347472"/>
          </a:xfrm>
          <a:prstGeom prst="rect">
            <a:avLst/>
          </a:prstGeom>
          <a:solidFill>
            <a:srgbClr val="3A0A0A"/>
          </a:solidFill>
          <a:ln w="19050">
            <a:solidFill>
              <a:srgbClr val="FF5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F56"/>
                </a:solidFill>
                <a:latin typeface="Calibri"/>
              </a:rPr>
              <a:t>❌  ANTES — Facturacion.jsx (Alertas Bloqueantes)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307592"/>
            <a:ext cx="5486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1792" y="1417319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50392" y="1417319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1417319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380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Facturacion.jsx (antes)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55064"/>
            <a:ext cx="5486400" cy="3721608"/>
          </a:xfrm>
          <a:prstGeom prst="rect">
            <a:avLst/>
          </a:prstGeom>
          <a:solidFill>
            <a:srgbClr val="030712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1764792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// Bloquea el hilo, experiencia intrusiva ❌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const handleFacturar = async (id) =&gt;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const ok = window.confirm(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'¿Generar factura para esta orden?'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if (!ok) return;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try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await api.generarFactura(id);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window.alert('Factura generada exitosamente');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} catch (error) {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  window.alert('Error: ' + error.message);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  }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};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// Formato moneda repetido en cada archivo ❌</a:t>
            </a:r>
          </a:p>
          <a:p>
            <a:pPr algn="l"/>
            <a:r>
              <a:rPr sz="1000" b="0">
                <a:solidFill>
                  <a:srgbClr val="FF5F56"/>
                </a:solidFill>
                <a:latin typeface="Courier New"/>
              </a:rPr>
              <a:t>const fmt = new Intl.NumberFormat('es-DO', ...).format(val);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960120"/>
            <a:ext cx="5486400" cy="347472"/>
          </a:xfrm>
          <a:prstGeom prst="rect">
            <a:avLst/>
          </a:prstGeom>
          <a:solidFill>
            <a:srgbClr val="032A0F"/>
          </a:solidFill>
          <a:ln w="19050"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98755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C93F"/>
                </a:solidFill>
                <a:latin typeface="Calibri"/>
              </a:rPr>
              <a:t>✅  DESPUÉS — Facturacion.jsx (UX Asíncrona)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307592"/>
            <a:ext cx="5486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28231" y="1417319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56831" y="1417319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85431" y="1417319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380744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urier New"/>
              </a:rPr>
              <a:t>Facturacion.jsx (después)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655064"/>
            <a:ext cx="5486400" cy="3721608"/>
          </a:xfrm>
          <a:prstGeom prst="rect">
            <a:avLst/>
          </a:prstGeom>
          <a:solidFill>
            <a:srgbClr val="030712"/>
          </a:solidFill>
          <a:ln w="12700">
            <a:solidFill>
              <a:srgbClr val="304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1" y="1764792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// No bloquea, experiencia moderna ✅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import { useToast } from '../components/Toast';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import { formatMoneda } from '../utils/formatMoneda';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const { toast } = useToast();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/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const handleFacturar = (id) =&gt;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setConfirmConfig({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title: '¿Generar factura para esta orden?',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onConfirm: async () =&gt;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try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  await api.generarFactura(id);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  toast.success('Factura generada ✅');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} catch (e) {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  toast.error(e.message);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 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  }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});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// Formato moneda centralizado ✅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  formatMoneda(orden.total); // → RD$ 12,500.00</a:t>
            </a:r>
          </a:p>
          <a:p>
            <a:pPr algn="l"/>
            <a:r>
              <a:rPr sz="1000" b="0">
                <a:solidFill>
                  <a:srgbClr val="27C93F"/>
                </a:solidFill>
                <a:latin typeface="Courier New"/>
              </a:rPr>
              <a:t>};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017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8C00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182880"/>
            <a:ext cx="1371600" cy="347472"/>
          </a:xfrm>
          <a:prstGeom prst="rect">
            <a:avLst/>
          </a:prstGeom>
          <a:solidFill>
            <a:srgbClr val="001F4D"/>
          </a:solidFill>
          <a:ln w="1270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20116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B2FF"/>
                </a:solidFill>
                <a:latin typeface="Calibri"/>
              </a:rPr>
              <a:t>UNEV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4. Aprendizajes — Construir Software de Calidad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8C00"/>
                </a:solidFill>
                <a:latin typeface="Calibri"/>
              </a:rPr>
              <a:t>Lo que este proyecto me enseñó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841248"/>
            <a:ext cx="11274552" cy="18288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6 / 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05840"/>
            <a:ext cx="55778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0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D2E"/>
                </a:solidFill>
                <a:latin typeface="Calibri"/>
              </a:rPr>
              <a:t>🗂️  Control de Versiones Atómico (Git)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3898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Aprendí a registrar cada mejora en commits separados con convención semántica (feat, refactor, fix). Esto hace el historial legible, reversible y trazable.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167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BD2E"/>
                </a:solidFill>
                <a:latin typeface="Courier New"/>
              </a:rPr>
              <a:t>  •  5 commits atómicos implementados:    •  feat, refactor(×2), fix, feat — rama master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005840"/>
            <a:ext cx="55778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1A5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B2FF"/>
                </a:solidFill>
                <a:latin typeface="Calibri"/>
              </a:rPr>
              <a:t>🏛️  Separar Responsabilidades (SRP)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3898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El frontend solo presenta. El controlador solo delega. El Dominio decide. Al separar responsabilidades, cambiar una capa no rompe las demás.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1671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DB2FF"/>
                </a:solidFill>
                <a:latin typeface="Courier New"/>
              </a:rPr>
              <a:t>  •  Validación → Caso de Uso    •  Formato → formatMoneda.js    •  Navegación → navigationConfig.js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55778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00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C93F"/>
                </a:solidFill>
                <a:latin typeface="Calibri"/>
              </a:rPr>
              <a:t>✨  UX es Arquitectura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4472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Eliminar alert() e implementar Toast/ConfirmModal asíncronos no es solo cosmético: impacta la calidad real percibida del sistema por el usuario final.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224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7C93F"/>
                </a:solidFill>
                <a:latin typeface="Courier New"/>
              </a:rPr>
              <a:t>  •  Toast: no bloquea el hilo    •  ConfirmModal: accesible y consistente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063240"/>
            <a:ext cx="557784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603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1546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8C00"/>
                </a:solidFill>
                <a:latin typeface="Calibri"/>
              </a:rPr>
              <a:t>🔒  Proteger el Dominio (DIP)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4472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La capa de Dominio nunca importa clases de Infraestructura. Dependency-cruiser valida este principio automáticamente en cada ejecución.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224528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8C00"/>
                </a:solidFill>
                <a:latin typeface="Courier New"/>
              </a:rPr>
              <a:t>  •  Domain → no depende de Prisma    •  Domain → no depende de Express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